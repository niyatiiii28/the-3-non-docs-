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Simulated severity distribution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Patients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L1</c:v>
                </c:pt>
                <c:pt idx="1">
                  <c:v>L2</c:v>
                </c:pt>
                <c:pt idx="2">
                  <c:v>L3</c:v>
                </c:pt>
                <c:pt idx="3">
                  <c:v>L4</c:v>
                </c:pt>
                <c:pt idx="4">
                  <c:v>L5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</c:v>
                </c:pt>
                <c:pt idx="1">
                  <c:v>2</c:v>
                </c:pt>
                <c:pt idx="2">
                  <c:v>3</c:v>
                </c:pt>
                <c:pt idx="3">
                  <c:v>1</c:v>
                </c:pt>
                <c:pt idx="4">
                  <c:v>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  <c:majorUnit val="2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Average prototype confidence by age band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Confidence %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Pediatric</c:v>
                </c:pt>
                <c:pt idx="1">
                  <c:v>Adult</c:v>
                </c:pt>
                <c:pt idx="2">
                  <c:v>Geriatric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92</c:v>
                </c:pt>
                <c:pt idx="1">
                  <c:v>88</c:v>
                </c:pt>
                <c:pt idx="2">
                  <c:v>89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502920"/>
            <a:ext cx="1371600" cy="1371600"/>
          </a:xfrm>
          <a:prstGeom prst="ellipse">
            <a:avLst/>
          </a:prstGeom>
          <a:solidFill>
            <a:srgbClr val="671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98480" y="1417320"/>
            <a:ext cx="594360" cy="594360"/>
          </a:xfrm>
          <a:prstGeom prst="ellipse">
            <a:avLst/>
          </a:prstGeom>
          <a:solidFill>
            <a:srgbClr val="41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72600" y="1828800"/>
            <a:ext cx="320040" cy="320040"/>
          </a:xfrm>
          <a:prstGeom prst="ellipse">
            <a:avLst/>
          </a:prstGeom>
          <a:solidFill>
            <a:srgbClr val="BE8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804672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00" b="1">
                <a:solidFill>
                  <a:srgbClr val="671F96"/>
                </a:solidFill>
              </a:defRPr>
            </a:pPr>
            <a:r>
              <a:t>ACCENTURE INNOVATION CHALLENGE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8595360" cy="9144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3800" b="1">
                <a:solidFill>
                  <a:srgbClr val="232028"/>
                </a:solidFill>
              </a:defRPr>
            </a:pPr>
            <a:r>
              <a:t>PATIENTTRIAGE.AI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14600"/>
            <a:ext cx="7955279" cy="9144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300" b="0">
                <a:solidFill>
                  <a:srgbClr val="69656E"/>
                </a:solidFill>
              </a:defRPr>
            </a:pPr>
            <a:r>
              <a:t>A practical, explainable decision-support layer</a:t>
            </a:r>
            <a:br/>
            <a:r>
              <a:t>for emergency-department triage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77639"/>
            <a:ext cx="685800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0">
                <a:solidFill>
                  <a:srgbClr val="69656E"/>
                </a:solidFill>
              </a:defRPr>
            </a:pPr>
            <a:r>
              <a:t>Business Proposal  •  Prototype-backed  •  September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83480"/>
            <a:ext cx="54864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1">
                <a:solidFill>
                  <a:srgbClr val="671F96"/>
                </a:solidFill>
              </a:defRPr>
            </a:pPr>
            <a:r>
              <a:t>THE 3 NON DOCS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349240"/>
            <a:ext cx="685800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0">
                <a:solidFill>
                  <a:srgbClr val="232028"/>
                </a:solidFill>
              </a:defRPr>
            </a:pPr>
            <a:r>
              <a:t>Hridya Balachandran  |  K R Tanvi  |  Siju Niyati Samji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89320"/>
            <a:ext cx="365760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00" b="0">
                <a:solidFill>
                  <a:srgbClr val="69656E"/>
                </a:solidFill>
              </a:defRPr>
            </a:pPr>
            <a:r>
              <a:t>IIT Gandhinagar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71F96"/>
                </a:solidFill>
              </a:defRPr>
            </a:pPr>
            <a:r>
              <a:t>01 • 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32028"/>
                </a:solidFill>
              </a:defRPr>
            </a:pPr>
            <a:r>
              <a:t>The ED triage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914400" cy="54864"/>
          </a:xfrm>
          <a:prstGeom prst="rect">
            <a:avLst/>
          </a:prstGeom>
          <a:solidFill>
            <a:srgbClr val="671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6492240" cy="7772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200" b="1">
                <a:solidFill>
                  <a:srgbClr val="232028"/>
                </a:solidFill>
              </a:defRPr>
            </a:pPr>
            <a:r>
              <a:t>Triage decisions are made under time pressure, incomplete information and changing demand.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514600"/>
            <a:ext cx="6309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32028"/>
                </a:solidFill>
              </a:defRPr>
            </a:pPr>
            <a:r>
              <a:t>• First-pass prioritisation can vary when several patients arrive together.</a:t>
            </a:r>
          </a:p>
          <a:p>
            <a:pPr>
              <a:spcAft>
                <a:spcPts val="900"/>
              </a:spcAft>
              <a:defRPr sz="1500">
                <a:solidFill>
                  <a:srgbClr val="232028"/>
                </a:solidFill>
              </a:defRPr>
            </a:pPr>
            <a:r>
              <a:t>• Missing history or vague symptoms can create under-triage risk.</a:t>
            </a:r>
          </a:p>
          <a:p>
            <a:pPr>
              <a:spcAft>
                <a:spcPts val="900"/>
              </a:spcAft>
              <a:defRPr sz="1500">
                <a:solidFill>
                  <a:srgbClr val="232028"/>
                </a:solidFill>
              </a:defRPr>
            </a:pPr>
            <a:r>
              <a:t>• Adult-centric thresholds may miss differences in children and older adults.</a:t>
            </a:r>
          </a:p>
          <a:p>
            <a:pPr>
              <a:spcAft>
                <a:spcPts val="900"/>
              </a:spcAft>
              <a:defRPr sz="1500">
                <a:solidFill>
                  <a:srgbClr val="232028"/>
                </a:solidFill>
              </a:defRPr>
            </a:pPr>
            <a:r>
              <a:t>• Waiting patients can deteriorate unless re-assessment is actively managed.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1600200"/>
            <a:ext cx="4069080" cy="1143000"/>
          </a:xfrm>
          <a:prstGeom prst="roundRect">
            <a:avLst/>
          </a:prstGeom>
          <a:solidFill>
            <a:srgbClr val="F9F8FB"/>
          </a:solidFill>
          <a:ln>
            <a:solidFill>
              <a:srgbClr val="E1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60920" y="1600200"/>
            <a:ext cx="64008" cy="1143000"/>
          </a:xfrm>
          <a:prstGeom prst="rect">
            <a:avLst/>
          </a:prstGeom>
          <a:solidFill>
            <a:srgbClr val="671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62088" y="1746504"/>
            <a:ext cx="3721608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00" b="1">
                <a:solidFill>
                  <a:srgbClr val="232028"/>
                </a:solidFill>
              </a:defRPr>
            </a:pPr>
            <a:r>
              <a:t>THE CORE 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62088" y="2121408"/>
            <a:ext cx="3721608" cy="4846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>
                <a:solidFill>
                  <a:srgbClr val="69656E"/>
                </a:solidFill>
              </a:defRPr>
            </a:pPr>
            <a:r>
              <a:t>Make first-pass triage faster and more consistent while keeping clinical judgement, explainability and escalation under uncertainty at the centre.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0920" y="2971800"/>
            <a:ext cx="4069080" cy="1143000"/>
          </a:xfrm>
          <a:prstGeom prst="roundRect">
            <a:avLst/>
          </a:prstGeom>
          <a:solidFill>
            <a:srgbClr val="F9F8FB"/>
          </a:solidFill>
          <a:ln>
            <a:solidFill>
              <a:srgbClr val="E1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60920" y="2971800"/>
            <a:ext cx="64008" cy="1143000"/>
          </a:xfrm>
          <a:prstGeom prst="rect">
            <a:avLst/>
          </a:prstGeom>
          <a:solidFill>
            <a:srgbClr val="41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62088" y="3118104"/>
            <a:ext cx="3721608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00" b="1">
                <a:solidFill>
                  <a:srgbClr val="232028"/>
                </a:solidFill>
              </a:defRPr>
            </a:pPr>
            <a:r>
              <a:t>NOT AUTOMATION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62088" y="3493008"/>
            <a:ext cx="3721608" cy="4846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>
                <a:solidFill>
                  <a:srgbClr val="69656E"/>
                </a:solidFill>
              </a:defRPr>
            </a:pPr>
            <a:r>
              <a:t>The system recommends; the triage nurse reviews, investigates or overrides. Accountability stays with the clinical team.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0920" y="4343400"/>
            <a:ext cx="4069080" cy="1143000"/>
          </a:xfrm>
          <a:prstGeom prst="roundRect">
            <a:avLst/>
          </a:prstGeom>
          <a:solidFill>
            <a:srgbClr val="F9F8FB"/>
          </a:solidFill>
          <a:ln>
            <a:solidFill>
              <a:srgbClr val="E1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60920" y="4343400"/>
            <a:ext cx="64008" cy="1143000"/>
          </a:xfrm>
          <a:prstGeom prst="rect">
            <a:avLst/>
          </a:prstGeom>
          <a:solidFill>
            <a:srgbClr val="B23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62088" y="4489704"/>
            <a:ext cx="3721608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00" b="1">
                <a:solidFill>
                  <a:srgbClr val="232028"/>
                </a:solidFill>
              </a:defRPr>
            </a:pPr>
            <a:r>
              <a:t>WHY IT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62088" y="4864608"/>
            <a:ext cx="3721608" cy="4846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>
                <a:solidFill>
                  <a:srgbClr val="69656E"/>
                </a:solidFill>
              </a:defRPr>
            </a:pPr>
            <a:r>
              <a:t>Under-triage can carry much higher consequences than modest over-triage, so the design is intentionally conservative under uncertainty.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656E"/>
                </a:solidFill>
              </a:defRPr>
            </a:pPr>
            <a:r>
              <a:t>PATIENTTRIAGE.AI  •  THE 3 NON DOCS  •  ACCENTURE INNOVATION CHALLENGE 2026                    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71F96"/>
                </a:solidFill>
              </a:defRPr>
            </a:pPr>
            <a:r>
              <a:t>02 • USERS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32028"/>
                </a:solidFill>
              </a:defRPr>
            </a:pPr>
            <a:r>
              <a:t>Who uses it — and what they need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914400" cy="54864"/>
          </a:xfrm>
          <a:prstGeom prst="rect">
            <a:avLst/>
          </a:prstGeom>
          <a:solidFill>
            <a:srgbClr val="671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10789920" cy="868680"/>
          </a:xfrm>
          <a:prstGeom prst="roundRect">
            <a:avLst/>
          </a:prstGeom>
          <a:solidFill>
            <a:srgbClr val="F9F8FB"/>
          </a:solidFill>
          <a:ln>
            <a:solidFill>
              <a:srgbClr val="E1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554480"/>
            <a:ext cx="64008" cy="868680"/>
          </a:xfrm>
          <a:prstGeom prst="rect">
            <a:avLst/>
          </a:prstGeom>
          <a:solidFill>
            <a:srgbClr val="671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700784"/>
            <a:ext cx="10442448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232028"/>
                </a:solidFill>
              </a:defRPr>
            </a:pPr>
            <a:r>
              <a:t>Triage nurse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075688"/>
            <a:ext cx="10442448" cy="210311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80" b="0">
                <a:solidFill>
                  <a:srgbClr val="69656E"/>
                </a:solidFill>
              </a:defRPr>
            </a:pPr>
            <a:r>
              <a:t>Fast recommendation + visible reason  →  Severity, confidence, flags and quick override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33472"/>
            <a:ext cx="10789920" cy="868680"/>
          </a:xfrm>
          <a:prstGeom prst="roundRect">
            <a:avLst/>
          </a:prstGeom>
          <a:solidFill>
            <a:srgbClr val="F9F8FB"/>
          </a:solidFill>
          <a:ln>
            <a:solidFill>
              <a:srgbClr val="E1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633472"/>
            <a:ext cx="64008" cy="868680"/>
          </a:xfrm>
          <a:prstGeom prst="rect">
            <a:avLst/>
          </a:prstGeom>
          <a:solidFill>
            <a:srgbClr val="41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2779776"/>
            <a:ext cx="10442448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232028"/>
                </a:solidFill>
              </a:defRPr>
            </a:pPr>
            <a:r>
              <a:t>Charge / surge nurse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154679"/>
            <a:ext cx="10442448" cy="210311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80" b="0">
                <a:solidFill>
                  <a:srgbClr val="69656E"/>
                </a:solidFill>
              </a:defRPr>
            </a:pPr>
            <a:r>
              <a:t>Whole-queue visibility  →  Severity + wait time ranking and re-assessment flags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712463"/>
            <a:ext cx="10789920" cy="868680"/>
          </a:xfrm>
          <a:prstGeom prst="roundRect">
            <a:avLst/>
          </a:prstGeom>
          <a:solidFill>
            <a:srgbClr val="F9F8FB"/>
          </a:solidFill>
          <a:ln>
            <a:solidFill>
              <a:srgbClr val="E1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712463"/>
            <a:ext cx="64008" cy="868680"/>
          </a:xfrm>
          <a:prstGeom prst="rect">
            <a:avLst/>
          </a:prstGeom>
          <a:solidFill>
            <a:srgbClr val="BE8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3858768"/>
            <a:ext cx="10442448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232028"/>
                </a:solidFill>
              </a:defRPr>
            </a:pPr>
            <a:r>
              <a:t>ED leadership / compliance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4233672"/>
            <a:ext cx="10442448" cy="210311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80" b="0">
                <a:solidFill>
                  <a:srgbClr val="69656E"/>
                </a:solidFill>
              </a:defRPr>
            </a:pPr>
            <a:r>
              <a:t>Consistency + defensible decisions  →  Rules-based logic + timestamped override audit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791456"/>
            <a:ext cx="10789920" cy="868680"/>
          </a:xfrm>
          <a:prstGeom prst="roundRect">
            <a:avLst/>
          </a:prstGeom>
          <a:solidFill>
            <a:srgbClr val="F9F8FB"/>
          </a:solidFill>
          <a:ln>
            <a:solidFill>
              <a:srgbClr val="E1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791456"/>
            <a:ext cx="64008" cy="868680"/>
          </a:xfrm>
          <a:prstGeom prst="rect">
            <a:avLst/>
          </a:prstGeom>
          <a:solidFill>
            <a:srgbClr val="307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4937760"/>
            <a:ext cx="10442448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232028"/>
                </a:solidFill>
              </a:defRPr>
            </a:pPr>
            <a:r>
              <a:t>Hospital IT / CMIO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5312664"/>
            <a:ext cx="10442448" cy="210311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80" b="0">
                <a:solidFill>
                  <a:srgbClr val="69656E"/>
                </a:solidFill>
              </a:defRPr>
            </a:pPr>
            <a:r>
              <a:t>Deployable system  →  Works from intake data; integrations can be phased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656E"/>
                </a:solidFill>
              </a:defRPr>
            </a:pPr>
            <a:r>
              <a:t>PATIENTTRIAGE.AI  •  THE 3 NON DOCS  •  ACCENTURE INNOVATION CHALLENGE 2026                    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71F96"/>
                </a:solidFill>
              </a:defRPr>
            </a:pPr>
            <a:r>
              <a:t>03 •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32028"/>
                </a:solidFill>
              </a:defRPr>
            </a:pPr>
            <a:r>
              <a:t>From intake to safe monitoring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914400" cy="54864"/>
          </a:xfrm>
          <a:prstGeom prst="rect">
            <a:avLst/>
          </a:prstGeom>
          <a:solidFill>
            <a:srgbClr val="671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2176272" cy="3063240"/>
          </a:xfrm>
          <a:prstGeom prst="roundRect">
            <a:avLst/>
          </a:prstGeom>
          <a:solidFill>
            <a:srgbClr val="F9F8FB"/>
          </a:solidFill>
          <a:ln>
            <a:solidFill>
              <a:srgbClr val="E1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2057400"/>
            <a:ext cx="1847088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700" b="1">
                <a:solidFill>
                  <a:srgbClr val="671F96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542032"/>
            <a:ext cx="1847088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200" b="1">
                <a:solidFill>
                  <a:srgbClr val="232028"/>
                </a:solidFill>
              </a:defRPr>
            </a:pPr>
            <a:r>
              <a:t>INTAKE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54680"/>
            <a:ext cx="1719072" cy="1325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100" b="0">
                <a:solidFill>
                  <a:srgbClr val="69656E"/>
                </a:solidFill>
              </a:defRPr>
            </a:pPr>
            <a:r>
              <a:t>Age, complaint,</a:t>
            </a:r>
            <a:br/>
            <a:r>
              <a:t>symptoms, vitals,</a:t>
            </a:r>
            <a:br/>
            <a:r>
              <a:t>history availability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60903" y="2834640"/>
            <a:ext cx="164592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800" b="1">
                <a:solidFill>
                  <a:srgbClr val="671F96"/>
                </a:solidFill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1828800"/>
            <a:ext cx="2176272" cy="3063240"/>
          </a:xfrm>
          <a:prstGeom prst="roundRect">
            <a:avLst/>
          </a:prstGeom>
          <a:solidFill>
            <a:srgbClr val="F9F8FB"/>
          </a:solidFill>
          <a:ln>
            <a:solidFill>
              <a:srgbClr val="E1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53512" y="2057400"/>
            <a:ext cx="1847088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700" b="1">
                <a:solidFill>
                  <a:srgbClr val="671F96"/>
                </a:solidFill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53512" y="2542032"/>
            <a:ext cx="1847088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200" b="1">
                <a:solidFill>
                  <a:srgbClr val="232028"/>
                </a:solidFill>
              </a:defRPr>
            </a:pPr>
            <a:r>
              <a:t>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3154680"/>
            <a:ext cx="1719072" cy="1325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100" b="0">
                <a:solidFill>
                  <a:srgbClr val="69656E"/>
                </a:solidFill>
              </a:defRPr>
            </a:pPr>
            <a:r>
              <a:t>Age-adjusted rules</a:t>
            </a:r>
            <a:br/>
            <a:r>
              <a:t>+ red flags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46904" y="2834640"/>
            <a:ext cx="164592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800" b="1">
                <a:solidFill>
                  <a:srgbClr val="671F96"/>
                </a:solidFill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74920" y="1828800"/>
            <a:ext cx="2176272" cy="3063240"/>
          </a:xfrm>
          <a:prstGeom prst="roundRect">
            <a:avLst/>
          </a:prstGeom>
          <a:solidFill>
            <a:srgbClr val="F4EFF8"/>
          </a:solidFill>
          <a:ln>
            <a:solidFill>
              <a:srgbClr val="E1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39512" y="2057400"/>
            <a:ext cx="1847088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700" b="1">
                <a:solidFill>
                  <a:srgbClr val="671F96"/>
                </a:solidFill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9512" y="2542032"/>
            <a:ext cx="1847088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200" b="1">
                <a:solidFill>
                  <a:srgbClr val="232028"/>
                </a:solidFill>
              </a:defRPr>
            </a:pPr>
            <a:r>
              <a:t>UNCERTAINTY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3154680"/>
            <a:ext cx="1719072" cy="1325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100" b="0">
                <a:solidFill>
                  <a:srgbClr val="69656E"/>
                </a:solidFill>
              </a:defRPr>
            </a:pPr>
            <a:r>
              <a:t>Missing data and</a:t>
            </a:r>
            <a:br/>
            <a:r>
              <a:t>under-reporting reduce</a:t>
            </a:r>
            <a:br/>
            <a:r>
              <a:t>confidence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2904" y="2834640"/>
            <a:ext cx="164592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800" b="1">
                <a:solidFill>
                  <a:srgbClr val="671F96"/>
                </a:solidFill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1828800"/>
            <a:ext cx="2176272" cy="3063240"/>
          </a:xfrm>
          <a:prstGeom prst="roundRect">
            <a:avLst/>
          </a:prstGeom>
          <a:solidFill>
            <a:srgbClr val="F4EFF8"/>
          </a:solidFill>
          <a:ln>
            <a:solidFill>
              <a:srgbClr val="E1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25512" y="2057400"/>
            <a:ext cx="1847088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700" b="1">
                <a:solidFill>
                  <a:srgbClr val="671F96"/>
                </a:solidFill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25512" y="2542032"/>
            <a:ext cx="1847088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200" b="1">
                <a:solidFill>
                  <a:srgbClr val="232028"/>
                </a:solidFill>
              </a:defRPr>
            </a:pPr>
            <a:r>
              <a:t>ESCALATE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3154680"/>
            <a:ext cx="1719072" cy="1325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100" b="0">
                <a:solidFill>
                  <a:srgbClr val="69656E"/>
                </a:solidFill>
              </a:defRPr>
            </a:pPr>
            <a:r>
              <a:t>Critical vitals or low</a:t>
            </a:r>
            <a:br/>
            <a:r>
              <a:t>confidence move</a:t>
            </a:r>
            <a:br/>
            <a:r>
              <a:t>urgency upward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18904" y="2834640"/>
            <a:ext cx="164592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800" b="1">
                <a:solidFill>
                  <a:srgbClr val="671F96"/>
                </a:solidFill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46920" y="1828800"/>
            <a:ext cx="2176272" cy="3063240"/>
          </a:xfrm>
          <a:prstGeom prst="roundRect">
            <a:avLst/>
          </a:prstGeom>
          <a:solidFill>
            <a:srgbClr val="F9F8FB"/>
          </a:solidFill>
          <a:ln>
            <a:solidFill>
              <a:srgbClr val="E1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11512" y="2057400"/>
            <a:ext cx="1847088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700" b="1">
                <a:solidFill>
                  <a:srgbClr val="671F96"/>
                </a:solidFill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11512" y="2542032"/>
            <a:ext cx="1847088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200" b="1">
                <a:solidFill>
                  <a:srgbClr val="232028"/>
                </a:solidFill>
              </a:defRPr>
            </a:pPr>
            <a:r>
              <a:t>MONITOR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3154680"/>
            <a:ext cx="1719072" cy="1325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100" b="0">
                <a:solidFill>
                  <a:srgbClr val="69656E"/>
                </a:solidFill>
              </a:defRPr>
            </a:pPr>
            <a:r>
              <a:t>Queue position, wait</a:t>
            </a:r>
            <a:br/>
            <a:r>
              <a:t>window and re-</a:t>
            </a:r>
            <a:br/>
            <a:r>
              <a:t>assessment alerts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257800"/>
            <a:ext cx="10607040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500" b="1">
                <a:solidFill>
                  <a:srgbClr val="232028"/>
                </a:solidFill>
              </a:defRPr>
            </a:pPr>
            <a:r>
              <a:t>Design principle: the decision path should be understandable to a clinician at a glance — not a black box.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656E"/>
                </a:solidFill>
              </a:defRPr>
            </a:pPr>
            <a:r>
              <a:t>PATIENTTRIAGE.AI  •  THE 3 NON DOCS  •  ACCENTURE INNOVATION CHALLENGE 2026                    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71F96"/>
                </a:solidFill>
              </a:defRPr>
            </a:pPr>
            <a:r>
              <a:t>04 • DECISION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32028"/>
                </a:solidFill>
              </a:defRPr>
            </a:pPr>
            <a:r>
              <a:t>Explainable rules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914400" cy="54864"/>
          </a:xfrm>
          <a:prstGeom prst="rect">
            <a:avLst/>
          </a:prstGeom>
          <a:solidFill>
            <a:srgbClr val="671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10789920" cy="694944"/>
          </a:xfrm>
          <a:prstGeom prst="roundRect">
            <a:avLst/>
          </a:prstGeom>
          <a:solidFill>
            <a:srgbClr val="F9F8FB"/>
          </a:solidFill>
          <a:ln>
            <a:solidFill>
              <a:srgbClr val="E1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554480"/>
            <a:ext cx="64008" cy="694944"/>
          </a:xfrm>
          <a:prstGeom prst="rect">
            <a:avLst/>
          </a:prstGeom>
          <a:solidFill>
            <a:srgbClr val="671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700784"/>
            <a:ext cx="10442448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50" b="1">
                <a:solidFill>
                  <a:srgbClr val="232028"/>
                </a:solidFill>
              </a:defRPr>
            </a:pPr>
            <a:r>
              <a:t>Age-adjusted vitals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075688"/>
            <a:ext cx="10442448" cy="36576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30" b="0">
                <a:solidFill>
                  <a:srgbClr val="69656E"/>
                </a:solidFill>
              </a:defRPr>
            </a:pPr>
            <a:r>
              <a:t>HR, RR, SpO₂, temperature and systolic BP use pediatric, adult and geriatric bands.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14015"/>
            <a:ext cx="10789920" cy="694944"/>
          </a:xfrm>
          <a:prstGeom prst="roundRect">
            <a:avLst/>
          </a:prstGeom>
          <a:solidFill>
            <a:srgbClr val="F9F8FB"/>
          </a:solidFill>
          <a:ln>
            <a:solidFill>
              <a:srgbClr val="E1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414015"/>
            <a:ext cx="64008" cy="694944"/>
          </a:xfrm>
          <a:prstGeom prst="rect">
            <a:avLst/>
          </a:prstGeom>
          <a:solidFill>
            <a:srgbClr val="B23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2560320"/>
            <a:ext cx="10442448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50" b="1">
                <a:solidFill>
                  <a:srgbClr val="232028"/>
                </a:solidFill>
              </a:defRPr>
            </a:pPr>
            <a:r>
              <a:t>Red-flag symptoms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935223"/>
            <a:ext cx="10442448" cy="36576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30" b="0">
                <a:solidFill>
                  <a:srgbClr val="69656E"/>
                </a:solidFill>
              </a:defRPr>
            </a:pPr>
            <a:r>
              <a:t>Chest pain, breathing difficulty, stroke symptoms, severe allergy or suicidal ideation add independent weight.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73552"/>
            <a:ext cx="10789920" cy="694944"/>
          </a:xfrm>
          <a:prstGeom prst="roundRect">
            <a:avLst/>
          </a:prstGeom>
          <a:solidFill>
            <a:srgbClr val="F9F8FB"/>
          </a:solidFill>
          <a:ln>
            <a:solidFill>
              <a:srgbClr val="E1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273552"/>
            <a:ext cx="64008" cy="694944"/>
          </a:xfrm>
          <a:prstGeom prst="rect">
            <a:avLst/>
          </a:prstGeom>
          <a:solidFill>
            <a:srgbClr val="41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3419856"/>
            <a:ext cx="10442448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50" b="1">
                <a:solidFill>
                  <a:srgbClr val="232028"/>
                </a:solidFill>
              </a:defRPr>
            </a:pPr>
            <a:r>
              <a:t>Data completeness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3794760"/>
            <a:ext cx="10442448" cy="36576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30" b="0">
                <a:solidFill>
                  <a:srgbClr val="69656E"/>
                </a:solidFill>
              </a:defRPr>
            </a:pPr>
            <a:r>
              <a:t>Missing vitals reduce confidence — they are not treated as normal values.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133087"/>
            <a:ext cx="10789920" cy="694944"/>
          </a:xfrm>
          <a:prstGeom prst="roundRect">
            <a:avLst/>
          </a:prstGeom>
          <a:solidFill>
            <a:srgbClr val="F9F8FB"/>
          </a:solidFill>
          <a:ln>
            <a:solidFill>
              <a:srgbClr val="E1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133087"/>
            <a:ext cx="64008" cy="694944"/>
          </a:xfrm>
          <a:prstGeom prst="rect">
            <a:avLst/>
          </a:prstGeom>
          <a:solidFill>
            <a:srgbClr val="BE8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4279392"/>
            <a:ext cx="10442448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50" b="1">
                <a:solidFill>
                  <a:srgbClr val="232028"/>
                </a:solidFill>
              </a:defRPr>
            </a:pPr>
            <a:r>
              <a:t>History availability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4654296"/>
            <a:ext cx="10442448" cy="36576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30" b="0">
                <a:solidFill>
                  <a:srgbClr val="69656E"/>
                </a:solidFill>
              </a:defRPr>
            </a:pPr>
            <a:r>
              <a:t>No prior record reduces confidence when baseline information is unavailable.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992624"/>
            <a:ext cx="10789920" cy="694944"/>
          </a:xfrm>
          <a:prstGeom prst="roundRect">
            <a:avLst/>
          </a:prstGeom>
          <a:solidFill>
            <a:srgbClr val="F9F8FB"/>
          </a:solidFill>
          <a:ln>
            <a:solidFill>
              <a:srgbClr val="E1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4992624"/>
            <a:ext cx="64008" cy="694944"/>
          </a:xfrm>
          <a:prstGeom prst="rect">
            <a:avLst/>
          </a:prstGeom>
          <a:solidFill>
            <a:srgbClr val="307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5138928"/>
            <a:ext cx="10442448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50" b="1">
                <a:solidFill>
                  <a:srgbClr val="232028"/>
                </a:solidFill>
              </a:defRPr>
            </a:pPr>
            <a:r>
              <a:t>Under-reporting language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" y="5513832"/>
            <a:ext cx="10442448" cy="36576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30" b="0">
                <a:solidFill>
                  <a:srgbClr val="69656E"/>
                </a:solidFill>
              </a:defRPr>
            </a:pPr>
            <a:r>
              <a:t>Phrases like “vague pain” or “just feels off” reduce confidence rather than making a diagnosis.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897880"/>
            <a:ext cx="104241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150" b="1">
                <a:solidFill>
                  <a:srgbClr val="671F96"/>
                </a:solidFill>
              </a:defRPr>
            </a:pPr>
            <a:r>
              <a:t>Future ML may be added as a secondary signal — never the sole or unexplained driver of severity.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656E"/>
                </a:solidFill>
              </a:defRPr>
            </a:pPr>
            <a:r>
              <a:t>PATIENTTRIAGE.AI  •  THE 3 NON DOCS  •  ACCENTURE INNOVATION CHALLENGE 2026                    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71F96"/>
                </a:solidFill>
              </a:defRPr>
            </a:pPr>
            <a:r>
              <a:t>05 •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32028"/>
                </a:solidFill>
              </a:defRPr>
            </a:pPr>
            <a:r>
              <a:t>Safety is built into the recommendation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914400" cy="54864"/>
          </a:xfrm>
          <a:prstGeom prst="rect">
            <a:avLst/>
          </a:prstGeom>
          <a:solidFill>
            <a:srgbClr val="671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3474720" cy="1417320"/>
          </a:xfrm>
          <a:prstGeom prst="roundRect">
            <a:avLst/>
          </a:prstGeom>
          <a:solidFill>
            <a:srgbClr val="F9F8FB"/>
          </a:solidFill>
          <a:ln>
            <a:solidFill>
              <a:srgbClr val="E1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64008" cy="1417320"/>
          </a:xfrm>
          <a:prstGeom prst="rect">
            <a:avLst/>
          </a:prstGeom>
          <a:solidFill>
            <a:srgbClr val="671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746504"/>
            <a:ext cx="3127248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00" b="1">
                <a:solidFill>
                  <a:srgbClr val="232028"/>
                </a:solidFill>
              </a:defRPr>
            </a:pPr>
            <a:r>
              <a:t>CONFIDENCE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121408"/>
            <a:ext cx="3127248" cy="75895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00" b="0">
                <a:solidFill>
                  <a:srgbClr val="69656E"/>
                </a:solidFill>
              </a:defRPr>
            </a:pPr>
            <a:r>
              <a:t>Every recommendation includes a confidence percentage. The prototype applies a 25% floor so uncertainty is never hidden behind artificial precision.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246120"/>
            <a:ext cx="3474720" cy="1417320"/>
          </a:xfrm>
          <a:prstGeom prst="roundRect">
            <a:avLst/>
          </a:prstGeom>
          <a:solidFill>
            <a:srgbClr val="F9F8FB"/>
          </a:solidFill>
          <a:ln>
            <a:solidFill>
              <a:srgbClr val="E1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246120"/>
            <a:ext cx="64008" cy="1417320"/>
          </a:xfrm>
          <a:prstGeom prst="rect">
            <a:avLst/>
          </a:prstGeom>
          <a:solidFill>
            <a:srgbClr val="B23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3392424"/>
            <a:ext cx="3127248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00" b="1">
                <a:solidFill>
                  <a:srgbClr val="232028"/>
                </a:solidFill>
              </a:defRPr>
            </a:pPr>
            <a:r>
              <a:t>CRITICAL VITAL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3767328"/>
            <a:ext cx="3127248" cy="75895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00" b="0">
                <a:solidFill>
                  <a:srgbClr val="69656E"/>
                </a:solidFill>
              </a:defRPr>
            </a:pPr>
            <a:r>
              <a:t>If any vital is outside its critical range, the patient is moved to at least Level 2.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892040"/>
            <a:ext cx="3474720" cy="1005840"/>
          </a:xfrm>
          <a:prstGeom prst="roundRect">
            <a:avLst/>
          </a:prstGeom>
          <a:solidFill>
            <a:srgbClr val="F9F8FB"/>
          </a:solidFill>
          <a:ln>
            <a:solidFill>
              <a:srgbClr val="E1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892040"/>
            <a:ext cx="64008" cy="1005840"/>
          </a:xfrm>
          <a:prstGeom prst="rect">
            <a:avLst/>
          </a:prstGeom>
          <a:solidFill>
            <a:srgbClr val="BE8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5038344"/>
            <a:ext cx="3127248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00" b="1">
                <a:solidFill>
                  <a:srgbClr val="232028"/>
                </a:solidFill>
              </a:defRPr>
            </a:pPr>
            <a:r>
              <a:t>LOW CONFIDENCE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5413248"/>
            <a:ext cx="3127248" cy="34747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50" b="0">
                <a:solidFill>
                  <a:srgbClr val="69656E"/>
                </a:solidFill>
              </a:defRPr>
            </a:pPr>
            <a:r>
              <a:t>If confidence falls below 60%, move one severity level more urgent.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1645920"/>
            <a:ext cx="6675120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700" b="1">
                <a:solidFill>
                  <a:srgbClr val="232028"/>
                </a:solidFill>
              </a:defRPr>
            </a:pPr>
            <a:r>
              <a:t>Escalation-under-uncertainty logic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2331720"/>
            <a:ext cx="6309360" cy="777240"/>
          </a:xfrm>
          <a:prstGeom prst="roundRect">
            <a:avLst/>
          </a:prstGeom>
          <a:solidFill>
            <a:srgbClr val="F9F8FB"/>
          </a:solidFill>
          <a:ln>
            <a:solidFill>
              <a:srgbClr val="B2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00600" y="2514600"/>
            <a:ext cx="292608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232028"/>
                </a:solidFill>
              </a:defRPr>
            </a:pPr>
            <a:r>
              <a:t>Critical vital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2514600"/>
            <a:ext cx="265176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>
              <a:defRPr sz="1300" b="1">
                <a:solidFill>
                  <a:srgbClr val="B23741"/>
                </a:solidFill>
              </a:defRPr>
            </a:pPr>
            <a:r>
              <a:t>≥ Level 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3474720"/>
            <a:ext cx="6309360" cy="777240"/>
          </a:xfrm>
          <a:prstGeom prst="roundRect">
            <a:avLst/>
          </a:prstGeom>
          <a:solidFill>
            <a:srgbClr val="F9F8FB"/>
          </a:solidFill>
          <a:ln>
            <a:solidFill>
              <a:srgbClr val="BE8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0600" y="3657600"/>
            <a:ext cx="292608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232028"/>
                </a:solidFill>
              </a:defRPr>
            </a:pPr>
            <a:r>
              <a:t>Confidence &lt; 60%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60" y="3657600"/>
            <a:ext cx="265176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>
              <a:defRPr sz="1300" b="1">
                <a:solidFill>
                  <a:srgbClr val="BE8223"/>
                </a:solidFill>
              </a:defRPr>
            </a:pPr>
            <a:r>
              <a:t>↑ one level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0" y="4617720"/>
            <a:ext cx="6309360" cy="777240"/>
          </a:xfrm>
          <a:prstGeom prst="roundRect">
            <a:avLst/>
          </a:prstGeom>
          <a:solidFill>
            <a:srgbClr val="F9F8FB"/>
          </a:solidFill>
          <a:ln>
            <a:solidFill>
              <a:srgbClr val="307E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00600" y="4800600"/>
            <a:ext cx="292608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232028"/>
                </a:solidFill>
              </a:defRPr>
            </a:pPr>
            <a:r>
              <a:t>Normal confidence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9560" y="4800600"/>
            <a:ext cx="265176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>
              <a:defRPr sz="1300" b="1">
                <a:solidFill>
                  <a:srgbClr val="307E59"/>
                </a:solidFill>
              </a:defRPr>
            </a:pPr>
            <a:r>
              <a:t>Keep recommendation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5715000"/>
            <a:ext cx="603504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150" b="0">
                <a:solidFill>
                  <a:srgbClr val="69656E"/>
                </a:solidFill>
              </a:defRPr>
            </a:pPr>
            <a:r>
              <a:t>Asymmetric cost: some over-triage is accepted to reduce tolerance for dangerous uncertainty.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656E"/>
                </a:solidFill>
              </a:defRPr>
            </a:pPr>
            <a:r>
              <a:t>PATIENTTRIAGE.AI  •  THE 3 NON DOCS  •  ACCENTURE INNOVATION CHALLENGE 2026                    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71F96"/>
                </a:solidFill>
              </a:defRPr>
            </a:pPr>
            <a:r>
              <a:t>06 •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32028"/>
                </a:solidFill>
              </a:defRPr>
            </a:pPr>
            <a:r>
              <a:t>Prototype evidence — what it demonstrates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914400" cy="54864"/>
          </a:xfrm>
          <a:prstGeom prst="rect">
            <a:avLst/>
          </a:prstGeom>
          <a:solidFill>
            <a:srgbClr val="671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210312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3000" b="1">
                <a:solidFill>
                  <a:srgbClr val="671F96"/>
                </a:solidFill>
              </a:defRPr>
            </a:pPr>
            <a: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47672"/>
            <a:ext cx="2103120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000" b="0">
                <a:solidFill>
                  <a:srgbClr val="69656E"/>
                </a:solidFill>
              </a:defRPr>
            </a:pPr>
            <a:r>
              <a:t>simulated patients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417320"/>
            <a:ext cx="210312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3000" b="1">
                <a:solidFill>
                  <a:srgbClr val="671F96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947672"/>
            <a:ext cx="2103120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000" b="0">
                <a:solidFill>
                  <a:srgbClr val="69656E"/>
                </a:solidFill>
              </a:defRPr>
            </a:pPr>
            <a:r>
              <a:t>age bands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417320"/>
            <a:ext cx="210312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3000" b="1">
                <a:solidFill>
                  <a:srgbClr val="671F96"/>
                </a:solidFill>
              </a:defRPr>
            </a:pPr>
            <a: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1947672"/>
            <a:ext cx="2103120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000" b="0">
                <a:solidFill>
                  <a:srgbClr val="69656E"/>
                </a:solidFill>
              </a:defRPr>
            </a:pPr>
            <a:r>
              <a:t>triage levels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1417320"/>
            <a:ext cx="210312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3000" b="1">
                <a:solidFill>
                  <a:srgbClr val="671F96"/>
                </a:solidFill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947672"/>
            <a:ext cx="2103120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000" b="0">
                <a:solidFill>
                  <a:srgbClr val="69656E"/>
                </a:solidFill>
              </a:defRPr>
            </a:pPr>
            <a:r>
              <a:t>working dashboard views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685800" y="2331720"/>
          <a:ext cx="5166360" cy="3154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6172200" y="2331720"/>
          <a:ext cx="5166360" cy="31546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914400" y="5715000"/>
            <a:ext cx="10241280" cy="38404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050" b="0">
                <a:solidFill>
                  <a:srgbClr val="69656E"/>
                </a:solidFill>
              </a:defRPr>
            </a:pPr>
            <a:r>
              <a:t>6/18 simulated patients have no prior history; 2/18 have at least one missing vital. These are prototype outputs, not clinical performance claims.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656E"/>
                </a:solidFill>
              </a:defRPr>
            </a:pPr>
            <a:r>
              <a:t>PATIENTTRIAGE.AI  •  THE 3 NON DOCS  •  ACCENTURE INNOVATION CHALLENGE 2026                    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71F96"/>
                </a:solidFill>
              </a:defRPr>
            </a:pPr>
            <a:r>
              <a:t>07 • BUSINESS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32028"/>
                </a:solidFill>
              </a:defRPr>
            </a:pPr>
            <a:r>
              <a:t>Business value: reduce avoidable risk + variability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914400" cy="54864"/>
          </a:xfrm>
          <a:prstGeom prst="rect">
            <a:avLst/>
          </a:prstGeom>
          <a:solidFill>
            <a:srgbClr val="671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5257800" cy="1143000"/>
          </a:xfrm>
          <a:prstGeom prst="roundRect">
            <a:avLst/>
          </a:prstGeom>
          <a:solidFill>
            <a:srgbClr val="F9F8FB"/>
          </a:solidFill>
          <a:ln>
            <a:solidFill>
              <a:srgbClr val="E1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64008" cy="1143000"/>
          </a:xfrm>
          <a:prstGeom prst="rect">
            <a:avLst/>
          </a:prstGeom>
          <a:solidFill>
            <a:srgbClr val="B23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700784"/>
            <a:ext cx="4910328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232028"/>
                </a:solidFill>
              </a:defRPr>
            </a:pPr>
            <a:r>
              <a:t>Reduce under-triage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075688"/>
            <a:ext cx="4910328" cy="4846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40" b="0">
                <a:solidFill>
                  <a:srgbClr val="69656E"/>
                </a:solidFill>
              </a:defRPr>
            </a:pPr>
            <a:r>
              <a:t>Critical-vital and low-confidence escalation target the highest-cost failure mode.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1709928"/>
            <a:ext cx="91440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>
              <a:defRPr sz="950" b="1">
                <a:solidFill>
                  <a:srgbClr val="B23741"/>
                </a:solidFill>
              </a:defRPr>
            </a:pPr>
            <a:r>
              <a:t>HIGH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54480"/>
            <a:ext cx="5257800" cy="1143000"/>
          </a:xfrm>
          <a:prstGeom prst="roundRect">
            <a:avLst/>
          </a:prstGeom>
          <a:solidFill>
            <a:srgbClr val="F9F8FB"/>
          </a:solidFill>
          <a:ln>
            <a:solidFill>
              <a:srgbClr val="E1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554480"/>
            <a:ext cx="64008" cy="1143000"/>
          </a:xfrm>
          <a:prstGeom prst="rect">
            <a:avLst/>
          </a:prstGeom>
          <a:solidFill>
            <a:srgbClr val="671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1700784"/>
            <a:ext cx="4910328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232028"/>
                </a:solidFill>
              </a:defRPr>
            </a:pPr>
            <a:r>
              <a:t>Improve first-pass consistency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2075688"/>
            <a:ext cx="4910328" cy="4846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40" b="0">
                <a:solidFill>
                  <a:srgbClr val="69656E"/>
                </a:solidFill>
              </a:defRPr>
            </a:pPr>
            <a:r>
              <a:t>A common rules framework reduces variation in how the first assessment is structured.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1709928"/>
            <a:ext cx="91440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>
              <a:defRPr sz="950" b="1">
                <a:solidFill>
                  <a:srgbClr val="671F96"/>
                </a:solidFill>
              </a:defRPr>
            </a:pPr>
            <a:r>
              <a:t>HIGH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944368"/>
            <a:ext cx="5257800" cy="1143000"/>
          </a:xfrm>
          <a:prstGeom prst="roundRect">
            <a:avLst/>
          </a:prstGeom>
          <a:solidFill>
            <a:srgbClr val="F9F8FB"/>
          </a:solidFill>
          <a:ln>
            <a:solidFill>
              <a:srgbClr val="E1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2944368"/>
            <a:ext cx="64008" cy="1143000"/>
          </a:xfrm>
          <a:prstGeom prst="rect">
            <a:avLst/>
          </a:prstGeom>
          <a:solidFill>
            <a:srgbClr val="41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3090672"/>
            <a:ext cx="4910328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232028"/>
                </a:solidFill>
              </a:defRPr>
            </a:pPr>
            <a:r>
              <a:t>Faster queue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3465575"/>
            <a:ext cx="4910328" cy="4846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40" b="0">
                <a:solidFill>
                  <a:srgbClr val="69656E"/>
                </a:solidFill>
              </a:defRPr>
            </a:pPr>
            <a:r>
              <a:t>Severity + wait time creates one operational view for the charge/triage team.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3099815"/>
            <a:ext cx="91440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>
              <a:defRPr sz="950" b="1">
                <a:solidFill>
                  <a:srgbClr val="4169A0"/>
                </a:solidFill>
              </a:defRPr>
            </a:pPr>
            <a:r>
              <a:t>MED–HIGH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2944368"/>
            <a:ext cx="5257800" cy="1143000"/>
          </a:xfrm>
          <a:prstGeom prst="roundRect">
            <a:avLst/>
          </a:prstGeom>
          <a:solidFill>
            <a:srgbClr val="F9F8FB"/>
          </a:solidFill>
          <a:ln>
            <a:solidFill>
              <a:srgbClr val="E1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2944368"/>
            <a:ext cx="64008" cy="1143000"/>
          </a:xfrm>
          <a:prstGeom prst="rect">
            <a:avLst/>
          </a:prstGeom>
          <a:solidFill>
            <a:srgbClr val="BE8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4808" y="3090672"/>
            <a:ext cx="4910328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232028"/>
                </a:solidFill>
              </a:defRPr>
            </a:pPr>
            <a:r>
              <a:t>Reduce review friction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8" y="3465575"/>
            <a:ext cx="4910328" cy="4846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40" b="0">
                <a:solidFill>
                  <a:srgbClr val="69656E"/>
                </a:solidFill>
              </a:defRPr>
            </a:pPr>
            <a:r>
              <a:t>Structured override reasons + timestamps make decisions easier to review.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3099815"/>
            <a:ext cx="91440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>
              <a:defRPr sz="950" b="1">
                <a:solidFill>
                  <a:srgbClr val="BE8223"/>
                </a:solidFill>
              </a:defRPr>
            </a:pPr>
            <a:r>
              <a:t>MED–HIGH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334256"/>
            <a:ext cx="5257800" cy="1143000"/>
          </a:xfrm>
          <a:prstGeom prst="roundRect">
            <a:avLst/>
          </a:prstGeom>
          <a:solidFill>
            <a:srgbClr val="F9F8FB"/>
          </a:solidFill>
          <a:ln>
            <a:solidFill>
              <a:srgbClr val="E1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4334256"/>
            <a:ext cx="64008" cy="1143000"/>
          </a:xfrm>
          <a:prstGeom prst="rect">
            <a:avLst/>
          </a:prstGeom>
          <a:solidFill>
            <a:srgbClr val="307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7" y="4480560"/>
            <a:ext cx="4910328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232028"/>
                </a:solidFill>
              </a:defRPr>
            </a:pPr>
            <a:r>
              <a:t>Deploy with partial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7" y="4855464"/>
            <a:ext cx="4910328" cy="4846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40" b="0">
                <a:solidFill>
                  <a:srgbClr val="69656E"/>
                </a:solidFill>
              </a:defRPr>
            </a:pPr>
            <a:r>
              <a:t>Confidence logic is designed for patients with little or no prior record.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4489704"/>
            <a:ext cx="91440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>
              <a:defRPr sz="950" b="1">
                <a:solidFill>
                  <a:srgbClr val="307E59"/>
                </a:solidFill>
              </a:defRPr>
            </a:pPr>
            <a:r>
              <a:t>MEDIUM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4334256"/>
            <a:ext cx="5257800" cy="1143000"/>
          </a:xfrm>
          <a:prstGeom prst="roundRect">
            <a:avLst/>
          </a:prstGeom>
          <a:solidFill>
            <a:srgbClr val="F9F8FB"/>
          </a:solidFill>
          <a:ln>
            <a:solidFill>
              <a:srgbClr val="E1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63640" y="4334256"/>
            <a:ext cx="64008" cy="1143000"/>
          </a:xfrm>
          <a:prstGeom prst="rect">
            <a:avLst/>
          </a:prstGeom>
          <a:solidFill>
            <a:srgbClr val="671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64808" y="4480560"/>
            <a:ext cx="4910328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232028"/>
                </a:solidFill>
              </a:defRPr>
            </a:pPr>
            <a:r>
              <a:t>Foundation for analytics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64808" y="4855464"/>
            <a:ext cx="4910328" cy="4846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40" b="0">
                <a:solidFill>
                  <a:srgbClr val="69656E"/>
                </a:solidFill>
              </a:defRPr>
            </a:pPr>
            <a:r>
              <a:t>Scores, flags and overrides create a useful operational dataset for later improvement.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4160" y="4489704"/>
            <a:ext cx="91440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>
              <a:defRPr sz="950" b="1">
                <a:solidFill>
                  <a:srgbClr val="671F96"/>
                </a:solidFill>
              </a:defRPr>
            </a:pPr>
            <a:r>
              <a:t>MEDIUM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656E"/>
                </a:solidFill>
              </a:defRPr>
            </a:pPr>
            <a:r>
              <a:t>PATIENTTRIAGE.AI  •  THE 3 NON DOCS  •  ACCENTURE INNOVATION CHALLENGE 2026                    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71F96"/>
                </a:solidFill>
              </a:defRPr>
            </a:pPr>
            <a:r>
              <a:t>08 • MEASUREMENT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32028"/>
                </a:solidFill>
              </a:defRPr>
            </a:pPr>
            <a:r>
              <a:t>How value should be measured in the pilot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914400" cy="54864"/>
          </a:xfrm>
          <a:prstGeom prst="rect">
            <a:avLst/>
          </a:prstGeom>
          <a:solidFill>
            <a:srgbClr val="671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365760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1">
                <a:solidFill>
                  <a:srgbClr val="232028"/>
                </a:solidFill>
              </a:defRPr>
            </a:pPr>
            <a:r>
              <a:t>Time to first recommendation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1508760"/>
            <a:ext cx="6583680" cy="310896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>
                <a:solidFill>
                  <a:srgbClr val="69656E"/>
                </a:solidFill>
              </a:defRPr>
            </a:pPr>
            <a:r>
              <a:t>Lower without worsening safety indicators.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47672"/>
            <a:ext cx="10332720" cy="10972"/>
          </a:xfrm>
          <a:prstGeom prst="rect">
            <a:avLst/>
          </a:prstGeom>
          <a:solidFill>
            <a:srgbClr val="E6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67128"/>
            <a:ext cx="365760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1">
                <a:solidFill>
                  <a:srgbClr val="232028"/>
                </a:solidFill>
              </a:defRPr>
            </a:pPr>
            <a:r>
              <a:t>Agreement with clinician triage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167128"/>
            <a:ext cx="6583680" cy="310896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>
                <a:solidFill>
                  <a:srgbClr val="69656E"/>
                </a:solidFill>
              </a:defRPr>
            </a:pPr>
            <a:r>
              <a:t>High agreement with explainable exceptions.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06040"/>
            <a:ext cx="10332720" cy="10972"/>
          </a:xfrm>
          <a:prstGeom prst="rect">
            <a:avLst/>
          </a:prstGeom>
          <a:solidFill>
            <a:srgbClr val="E6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825496"/>
            <a:ext cx="365760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1">
                <a:solidFill>
                  <a:srgbClr val="232028"/>
                </a:solidFill>
              </a:defRPr>
            </a:pPr>
            <a:r>
              <a:t>Under-triage events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825496"/>
            <a:ext cx="6583680" cy="310896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>
                <a:solidFill>
                  <a:srgbClr val="69656E"/>
                </a:solidFill>
              </a:defRPr>
            </a:pPr>
            <a:r>
              <a:t>Near-zero and investigated individually.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264408"/>
            <a:ext cx="10332720" cy="10972"/>
          </a:xfrm>
          <a:prstGeom prst="rect">
            <a:avLst/>
          </a:prstGeom>
          <a:solidFill>
            <a:srgbClr val="E6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483864"/>
            <a:ext cx="365760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1">
                <a:solidFill>
                  <a:srgbClr val="232028"/>
                </a:solidFill>
              </a:defRPr>
            </a:pPr>
            <a:r>
              <a:t>Over-triage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483864"/>
            <a:ext cx="6583680" cy="310896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>
                <a:solidFill>
                  <a:srgbClr val="69656E"/>
                </a:solidFill>
              </a:defRPr>
            </a:pPr>
            <a:r>
              <a:t>Known, monitored trade-off — not uncontrolled growth.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922776"/>
            <a:ext cx="10332720" cy="10972"/>
          </a:xfrm>
          <a:prstGeom prst="rect">
            <a:avLst/>
          </a:prstGeom>
          <a:solidFill>
            <a:srgbClr val="E6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142231"/>
            <a:ext cx="365760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1">
                <a:solidFill>
                  <a:srgbClr val="232028"/>
                </a:solidFill>
              </a:defRPr>
            </a:pPr>
            <a:r>
              <a:t>Re-assessment compliance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4142231"/>
            <a:ext cx="6583680" cy="310896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>
                <a:solidFill>
                  <a:srgbClr val="69656E"/>
                </a:solidFill>
              </a:defRPr>
            </a:pPr>
            <a:r>
              <a:t>Consistently high compliance.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581144"/>
            <a:ext cx="10332720" cy="10972"/>
          </a:xfrm>
          <a:prstGeom prst="rect">
            <a:avLst/>
          </a:prstGeom>
          <a:solidFill>
            <a:srgbClr val="E6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800600"/>
            <a:ext cx="365760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1">
                <a:solidFill>
                  <a:srgbClr val="232028"/>
                </a:solidFill>
              </a:defRPr>
            </a:pPr>
            <a:r>
              <a:t>Override rate + reasons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4800600"/>
            <a:ext cx="6583680" cy="310896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>
                <a:solidFill>
                  <a:srgbClr val="69656E"/>
                </a:solidFill>
              </a:defRPr>
            </a:pPr>
            <a:r>
              <a:t>Stable rate with actionable reasons, not silent workarounds.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239512"/>
            <a:ext cx="10332720" cy="10972"/>
          </a:xfrm>
          <a:prstGeom prst="rect">
            <a:avLst/>
          </a:prstGeom>
          <a:solidFill>
            <a:srgbClr val="E6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58968"/>
            <a:ext cx="365760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1">
                <a:solidFill>
                  <a:srgbClr val="232028"/>
                </a:solidFill>
              </a:defRPr>
            </a:pPr>
            <a:r>
              <a:t>Alert burden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5458968"/>
            <a:ext cx="6583680" cy="310896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>
                <a:solidFill>
                  <a:srgbClr val="69656E"/>
                </a:solidFill>
              </a:defRPr>
            </a:pPr>
            <a:r>
              <a:t>Useful alerts without excessive fatigue.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897880"/>
            <a:ext cx="10332720" cy="10972"/>
          </a:xfrm>
          <a:prstGeom prst="rect">
            <a:avLst/>
          </a:prstGeom>
          <a:solidFill>
            <a:srgbClr val="E6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656E"/>
                </a:solidFill>
              </a:defRPr>
            </a:pPr>
            <a:r>
              <a:t>PATIENTTRIAGE.AI  •  THE 3 NON DOCS  •  ACCENTURE INNOVATION CHALLENGE 2026                    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71F96"/>
                </a:solidFill>
              </a:defRPr>
            </a:pPr>
            <a:r>
              <a:t>09 • ROLLOUT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32028"/>
                </a:solidFill>
              </a:defRPr>
            </a:pPr>
            <a:r>
              <a:t>Phased roadmap: validate before authority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914400" cy="54864"/>
          </a:xfrm>
          <a:prstGeom prst="rect">
            <a:avLst/>
          </a:prstGeom>
          <a:solidFill>
            <a:srgbClr val="671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16152" y="1600200"/>
            <a:ext cx="658368" cy="658368"/>
          </a:xfrm>
          <a:prstGeom prst="ellipse">
            <a:avLst/>
          </a:prstGeom>
          <a:solidFill>
            <a:srgbClr val="671F96"/>
          </a:solidFill>
          <a:ln>
            <a:solidFill>
              <a:srgbClr val="671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16152" y="1755648"/>
            <a:ext cx="658368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56232" y="1783080"/>
            <a:ext cx="86868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500" b="1">
                <a:solidFill>
                  <a:srgbClr val="671F96"/>
                </a:solidFill>
              </a:defRPr>
            </a:pPr>
            <a: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14600"/>
            <a:ext cx="2011680" cy="34747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300" b="1">
                <a:solidFill>
                  <a:srgbClr val="232028"/>
                </a:solidFill>
              </a:defRPr>
            </a:pPr>
            <a:r>
              <a:t>Prototype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3063240"/>
            <a:ext cx="1993392" cy="11430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019" b="0">
                <a:solidFill>
                  <a:srgbClr val="69656E"/>
                </a:solidFill>
              </a:defRPr>
            </a:pPr>
            <a:r>
              <a:t>Rules engine, simulated data, dashboard, surge simulation, audit log.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4480560"/>
            <a:ext cx="1993392" cy="9144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019" b="1">
                <a:solidFill>
                  <a:srgbClr val="671F96"/>
                </a:solidFill>
              </a:defRPr>
            </a:pPr>
            <a:r>
              <a:t>Working prototype + documented safety logic</a:t>
            </a:r>
          </a:p>
        </p:txBody>
      </p:sp>
      <p:sp>
        <p:nvSpPr>
          <p:cNvPr id="12" name="Oval 11"/>
          <p:cNvSpPr/>
          <p:nvPr/>
        </p:nvSpPr>
        <p:spPr>
          <a:xfrm>
            <a:off x="3547872" y="1600200"/>
            <a:ext cx="658368" cy="658368"/>
          </a:xfrm>
          <a:prstGeom prst="ellipse">
            <a:avLst/>
          </a:prstGeom>
          <a:solidFill>
            <a:srgbClr val="671F96"/>
          </a:solidFill>
          <a:ln>
            <a:solidFill>
              <a:srgbClr val="671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47872" y="1755648"/>
            <a:ext cx="658368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87952" y="1783080"/>
            <a:ext cx="86868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500" b="1">
                <a:solidFill>
                  <a:srgbClr val="671F96"/>
                </a:solidFill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79" y="2514600"/>
            <a:ext cx="2011680" cy="34747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300" b="1">
                <a:solidFill>
                  <a:srgbClr val="232028"/>
                </a:solidFill>
              </a:defRPr>
            </a:pPr>
            <a:r>
              <a:t>Shadow mode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44368" y="3063240"/>
            <a:ext cx="1993392" cy="11430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019" b="0">
                <a:solidFill>
                  <a:srgbClr val="69656E"/>
                </a:solidFill>
              </a:defRPr>
            </a:pPr>
            <a:r>
              <a:t>4–6 weeks alongside manual triage; no clinical authority.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44368" y="4480560"/>
            <a:ext cx="1993392" cy="9144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019" b="1">
                <a:solidFill>
                  <a:srgbClr val="671F96"/>
                </a:solidFill>
              </a:defRPr>
            </a:pPr>
            <a:r>
              <a:t>Compare recommendations; tune thresholds + alert burden</a:t>
            </a:r>
          </a:p>
        </p:txBody>
      </p:sp>
      <p:sp>
        <p:nvSpPr>
          <p:cNvPr id="18" name="Oval 17"/>
          <p:cNvSpPr/>
          <p:nvPr/>
        </p:nvSpPr>
        <p:spPr>
          <a:xfrm>
            <a:off x="5879592" y="1600200"/>
            <a:ext cx="658368" cy="658368"/>
          </a:xfrm>
          <a:prstGeom prst="ellipse">
            <a:avLst/>
          </a:prstGeom>
          <a:solidFill>
            <a:srgbClr val="F9F8FB"/>
          </a:solidFill>
          <a:ln>
            <a:solidFill>
              <a:srgbClr val="671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79592" y="1755648"/>
            <a:ext cx="658368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300" b="1">
                <a:solidFill>
                  <a:srgbClr val="671F96"/>
                </a:solidFill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1" y="1783080"/>
            <a:ext cx="86868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500" b="1">
                <a:solidFill>
                  <a:srgbClr val="671F96"/>
                </a:solidFill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799" y="2514600"/>
            <a:ext cx="2011680" cy="34747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300" b="1">
                <a:solidFill>
                  <a:srgbClr val="232028"/>
                </a:solidFill>
              </a:defRPr>
            </a:pPr>
            <a:r>
              <a:t>Single-site live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76088" y="3063240"/>
            <a:ext cx="1993392" cy="11430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019" b="0">
                <a:solidFill>
                  <a:srgbClr val="69656E"/>
                </a:solidFill>
              </a:defRPr>
            </a:pPr>
            <a:r>
              <a:t>EHR history lookup + full security/audit controls; override mandatory.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76088" y="4480560"/>
            <a:ext cx="1993392" cy="9144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019" b="1">
                <a:solidFill>
                  <a:srgbClr val="671F96"/>
                </a:solidFill>
              </a:defRPr>
            </a:pPr>
            <a:r>
              <a:t>Formal safety, security and operational sign-off</a:t>
            </a:r>
          </a:p>
        </p:txBody>
      </p:sp>
      <p:sp>
        <p:nvSpPr>
          <p:cNvPr id="24" name="Oval 23"/>
          <p:cNvSpPr/>
          <p:nvPr/>
        </p:nvSpPr>
        <p:spPr>
          <a:xfrm>
            <a:off x="8211311" y="1600200"/>
            <a:ext cx="658368" cy="658368"/>
          </a:xfrm>
          <a:prstGeom prst="ellipse">
            <a:avLst/>
          </a:prstGeom>
          <a:solidFill>
            <a:srgbClr val="F9F8FB"/>
          </a:solidFill>
          <a:ln>
            <a:solidFill>
              <a:srgbClr val="671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1" y="1755648"/>
            <a:ext cx="658368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300" b="1">
                <a:solidFill>
                  <a:srgbClr val="671F96"/>
                </a:solidFill>
              </a:defRPr>
            </a:pPr>
            <a: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51392" y="1783080"/>
            <a:ext cx="86868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500" b="1">
                <a:solidFill>
                  <a:srgbClr val="671F96"/>
                </a:solidFill>
              </a:defRPr>
            </a:pPr>
            <a: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19" y="2514600"/>
            <a:ext cx="2011680" cy="34747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300" b="1">
                <a:solidFill>
                  <a:srgbClr val="232028"/>
                </a:solidFill>
              </a:defRPr>
            </a:pPr>
            <a:r>
              <a:t>Multi-site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07807" y="3063240"/>
            <a:ext cx="1993392" cy="11430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019" b="0">
                <a:solidFill>
                  <a:srgbClr val="69656E"/>
                </a:solidFill>
              </a:defRPr>
            </a:pPr>
            <a:r>
              <a:t>Configurable thresholds + bed-management/staff-roster integration.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07807" y="4480560"/>
            <a:ext cx="1993392" cy="9144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019" b="1">
                <a:solidFill>
                  <a:srgbClr val="671F96"/>
                </a:solidFill>
              </a:defRPr>
            </a:pPr>
            <a:r>
              <a:t>Repeatable deployment model</a:t>
            </a:r>
          </a:p>
        </p:txBody>
      </p:sp>
      <p:sp>
        <p:nvSpPr>
          <p:cNvPr id="30" name="Oval 29"/>
          <p:cNvSpPr/>
          <p:nvPr/>
        </p:nvSpPr>
        <p:spPr>
          <a:xfrm>
            <a:off x="10543032" y="1600200"/>
            <a:ext cx="658368" cy="658368"/>
          </a:xfrm>
          <a:prstGeom prst="ellipse">
            <a:avLst/>
          </a:prstGeom>
          <a:solidFill>
            <a:srgbClr val="F9F8FB"/>
          </a:solidFill>
          <a:ln>
            <a:solidFill>
              <a:srgbClr val="671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43032" y="1755648"/>
            <a:ext cx="658368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300" b="1">
                <a:solidFill>
                  <a:srgbClr val="671F96"/>
                </a:solidFill>
              </a:defRPr>
            </a:pPr>
            <a: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21240" y="2514600"/>
            <a:ext cx="2011680" cy="34747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300" b="1">
                <a:solidFill>
                  <a:srgbClr val="232028"/>
                </a:solidFill>
              </a:defRPr>
            </a:pPr>
            <a:r>
              <a:t>Secondary ML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39528" y="3063240"/>
            <a:ext cx="1993392" cy="11430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019" b="0">
                <a:solidFill>
                  <a:srgbClr val="69656E"/>
                </a:solidFill>
              </a:defRPr>
            </a:pPr>
            <a:r>
              <a:t>ML risk model only as a secondary confidence input.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39528" y="4480560"/>
            <a:ext cx="1993392" cy="9144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019" b="1">
                <a:solidFill>
                  <a:srgbClr val="671F96"/>
                </a:solidFill>
              </a:defRPr>
            </a:pPr>
            <a:r>
              <a:t>Calibration, drift and demographic-bias monitoring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806440"/>
            <a:ext cx="105156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100" b="1">
                <a:solidFill>
                  <a:srgbClr val="232028"/>
                </a:solidFill>
              </a:defRPr>
            </a:pPr>
            <a:r>
              <a:t>Clinical authority is not handed to the system before the hospital has evidence that recommendations are useful and safe.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656E"/>
                </a:solidFill>
              </a:defRPr>
            </a:pPr>
            <a:r>
              <a:t>PATIENTTRIAGE.AI  •  THE 3 NON DOCS  •  ACCENTURE INNOVATION CHALLENGE 2026                    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71F96"/>
                </a:solidFill>
              </a:defRPr>
            </a:pPr>
            <a:r>
              <a:t>10 • RISK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32028"/>
                </a:solidFill>
              </a:defRPr>
            </a:pPr>
            <a:r>
              <a:t>Key risks — and how the design contains them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914400" cy="54864"/>
          </a:xfrm>
          <a:prstGeom prst="rect">
            <a:avLst/>
          </a:prstGeom>
          <a:solidFill>
            <a:srgbClr val="671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274320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1">
                <a:solidFill>
                  <a:srgbClr val="232028"/>
                </a:solidFill>
              </a:defRPr>
            </a:pPr>
            <a:r>
              <a:t>Alert fatigue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1417320"/>
            <a:ext cx="7543800" cy="32918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70" b="0">
                <a:solidFill>
                  <a:srgbClr val="69656E"/>
                </a:solidFill>
              </a:defRPr>
            </a:pPr>
            <a:r>
              <a:t>Dedicated charge-nurse ownership during surges; tune wait thresholds in pilot.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856232"/>
            <a:ext cx="10424160" cy="10972"/>
          </a:xfrm>
          <a:prstGeom prst="rect">
            <a:avLst/>
          </a:prstGeom>
          <a:solidFill>
            <a:srgbClr val="E8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75688"/>
            <a:ext cx="274320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1">
                <a:solidFill>
                  <a:srgbClr val="232028"/>
                </a:solidFill>
              </a:defRPr>
            </a:pPr>
            <a:r>
              <a:t>Staff distrust / workaround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075688"/>
            <a:ext cx="7543800" cy="32918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70" b="0">
                <a:solidFill>
                  <a:srgbClr val="69656E"/>
                </a:solidFill>
              </a:defRPr>
            </a:pPr>
            <a:r>
              <a:t>Shadow mode first; visible explanations; quick, legitimate overrides.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10424160" cy="10972"/>
          </a:xfrm>
          <a:prstGeom prst="rect">
            <a:avLst/>
          </a:prstGeom>
          <a:solidFill>
            <a:srgbClr val="E8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734056"/>
            <a:ext cx="274320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1">
                <a:solidFill>
                  <a:srgbClr val="232028"/>
                </a:solidFill>
              </a:defRPr>
            </a:pPr>
            <a:r>
              <a:t>Over-triage burden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734056"/>
            <a:ext cx="7543800" cy="32918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70" b="0">
                <a:solidFill>
                  <a:srgbClr val="69656E"/>
                </a:solidFill>
              </a:defRPr>
            </a:pPr>
            <a:r>
              <a:t>Track escalation-triggered cases and set an explicit ceiling during pilot.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172968"/>
            <a:ext cx="10424160" cy="10972"/>
          </a:xfrm>
          <a:prstGeom prst="rect">
            <a:avLst/>
          </a:prstGeom>
          <a:solidFill>
            <a:srgbClr val="E8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392424"/>
            <a:ext cx="274320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1">
                <a:solidFill>
                  <a:srgbClr val="232028"/>
                </a:solidFill>
              </a:defRPr>
            </a:pPr>
            <a:r>
              <a:t>Bias in symptom weighting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392424"/>
            <a:ext cx="7543800" cy="32918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70" b="0">
                <a:solidFill>
                  <a:srgbClr val="69656E"/>
                </a:solidFill>
              </a:defRPr>
            </a:pPr>
            <a:r>
              <a:t>Use vague-language signals to reduce confidence, not infer condition.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831335"/>
            <a:ext cx="10424160" cy="10972"/>
          </a:xfrm>
          <a:prstGeom prst="rect">
            <a:avLst/>
          </a:prstGeom>
          <a:solidFill>
            <a:srgbClr val="E8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050791"/>
            <a:ext cx="274320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1">
                <a:solidFill>
                  <a:srgbClr val="232028"/>
                </a:solidFill>
              </a:defRPr>
            </a:pPr>
            <a:r>
              <a:t>Hospital integration variance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4050791"/>
            <a:ext cx="7543800" cy="32918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70" b="0">
                <a:solidFill>
                  <a:srgbClr val="69656E"/>
                </a:solidFill>
              </a:defRPr>
            </a:pPr>
            <a:r>
              <a:t>Keep core engine standalone; add integrations as modules.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4489704"/>
            <a:ext cx="10424160" cy="10972"/>
          </a:xfrm>
          <a:prstGeom prst="rect">
            <a:avLst/>
          </a:prstGeom>
          <a:solidFill>
            <a:srgbClr val="E8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709159"/>
            <a:ext cx="274320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1">
                <a:solidFill>
                  <a:srgbClr val="232028"/>
                </a:solidFill>
              </a:defRPr>
            </a:pPr>
            <a:r>
              <a:t>PHI / compliance failure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4709159"/>
            <a:ext cx="7543800" cy="32918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70" b="0">
                <a:solidFill>
                  <a:srgbClr val="69656E"/>
                </a:solidFill>
              </a:defRPr>
            </a:pPr>
            <a:r>
              <a:t>Encryption, role-based access, immutable audit logging and go-live gates.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5148071"/>
            <a:ext cx="10424160" cy="10972"/>
          </a:xfrm>
          <a:prstGeom prst="rect">
            <a:avLst/>
          </a:prstGeom>
          <a:solidFill>
            <a:srgbClr val="E8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367528"/>
            <a:ext cx="274320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1">
                <a:solidFill>
                  <a:srgbClr val="232028"/>
                </a:solidFill>
              </a:defRPr>
            </a:pPr>
            <a:r>
              <a:t>Future ML drift / bias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5367528"/>
            <a:ext cx="7543800" cy="32918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70" b="0">
                <a:solidFill>
                  <a:srgbClr val="69656E"/>
                </a:solidFill>
              </a:defRPr>
            </a:pPr>
            <a:r>
              <a:t>Secondary-only ML with calibration, drift and subgroup monitoring.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5806440"/>
            <a:ext cx="10424160" cy="10972"/>
          </a:xfrm>
          <a:prstGeom prst="rect">
            <a:avLst/>
          </a:prstGeom>
          <a:solidFill>
            <a:srgbClr val="E8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656E"/>
                </a:solidFill>
              </a:defRPr>
            </a:pPr>
            <a:r>
              <a:t>PATIENTTRIAGE.AI  •  THE 3 NON DOCS  •  ACCENTURE INNOVATION CHALLENGE 2026                    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71F96"/>
                </a:solidFill>
              </a:defRPr>
            </a:pPr>
            <a:r>
              <a:t>11 •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32028"/>
                </a:solidFill>
              </a:defRPr>
            </a:pPr>
            <a:r>
              <a:t>What the prototype proves — and the next step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914400" cy="54864"/>
          </a:xfrm>
          <a:prstGeom prst="rect">
            <a:avLst/>
          </a:prstGeom>
          <a:solidFill>
            <a:srgbClr val="671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3337560" cy="1097280"/>
          </a:xfrm>
          <a:prstGeom prst="roundRect">
            <a:avLst/>
          </a:prstGeom>
          <a:solidFill>
            <a:srgbClr val="F9F8FB"/>
          </a:solidFill>
          <a:ln>
            <a:solidFill>
              <a:srgbClr val="E1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64008" cy="1097280"/>
          </a:xfrm>
          <a:prstGeom prst="rect">
            <a:avLst/>
          </a:prstGeom>
          <a:solidFill>
            <a:srgbClr val="671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700784"/>
            <a:ext cx="2990088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232028"/>
                </a:solidFill>
              </a:defRPr>
            </a:pPr>
            <a:r>
              <a:t>LIVE QUEUE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075688"/>
            <a:ext cx="2990088" cy="43891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50" b="0">
                <a:solidFill>
                  <a:srgbClr val="69656E"/>
                </a:solidFill>
              </a:defRPr>
            </a:pPr>
            <a:r>
              <a:t>Patients sorted by severity and wait time, with re-assessment alerts and simulated time controls.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880360"/>
            <a:ext cx="3337560" cy="1097280"/>
          </a:xfrm>
          <a:prstGeom prst="roundRect">
            <a:avLst/>
          </a:prstGeom>
          <a:solidFill>
            <a:srgbClr val="F9F8FB"/>
          </a:solidFill>
          <a:ln>
            <a:solidFill>
              <a:srgbClr val="E1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880360"/>
            <a:ext cx="64008" cy="1097280"/>
          </a:xfrm>
          <a:prstGeom prst="rect">
            <a:avLst/>
          </a:prstGeom>
          <a:solidFill>
            <a:srgbClr val="41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3026664"/>
            <a:ext cx="2990088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232028"/>
                </a:solidFill>
              </a:defRPr>
            </a:pPr>
            <a:r>
              <a:t>PATIENT DETAIL + OVERRIDE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3401568"/>
            <a:ext cx="2990088" cy="43891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50" b="0">
                <a:solidFill>
                  <a:srgbClr val="69656E"/>
                </a:solidFill>
              </a:defRPr>
            </a:pPr>
            <a:r>
              <a:t>Intake data, recommendation, confidence, explainability trace and clinician override.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206240"/>
            <a:ext cx="3337560" cy="1097280"/>
          </a:xfrm>
          <a:prstGeom prst="roundRect">
            <a:avLst/>
          </a:prstGeom>
          <a:solidFill>
            <a:srgbClr val="F9F8FB"/>
          </a:solidFill>
          <a:ln>
            <a:solidFill>
              <a:srgbClr val="E1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206240"/>
            <a:ext cx="64008" cy="1097280"/>
          </a:xfrm>
          <a:prstGeom prst="rect">
            <a:avLst/>
          </a:prstGeom>
          <a:solidFill>
            <a:srgbClr val="BE8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4352544"/>
            <a:ext cx="2990088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232028"/>
                </a:solidFill>
              </a:defRPr>
            </a:pPr>
            <a:r>
              <a:t>SURGE SIMULATION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4727448"/>
            <a:ext cx="2990088" cy="43891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50" b="0">
                <a:solidFill>
                  <a:srgbClr val="69656E"/>
                </a:solidFill>
              </a:defRPr>
            </a:pPr>
            <a:r>
              <a:t>3× volume simulation keeps clinical thresholds fixed while operational alert load increases.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1554480"/>
            <a:ext cx="7086600" cy="2057400"/>
          </a:xfrm>
          <a:prstGeom prst="roundRect">
            <a:avLst/>
          </a:prstGeom>
          <a:solidFill>
            <a:srgbClr val="F9F8FB"/>
          </a:solidFill>
          <a:ln>
            <a:solidFill>
              <a:srgbClr val="E1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89120" y="1554480"/>
            <a:ext cx="64008" cy="2057400"/>
          </a:xfrm>
          <a:prstGeom prst="rect">
            <a:avLst/>
          </a:prstGeom>
          <a:solidFill>
            <a:srgbClr val="671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0288" y="1700784"/>
            <a:ext cx="6739128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700" b="1">
                <a:solidFill>
                  <a:srgbClr val="232028"/>
                </a:solidFill>
              </a:defRPr>
            </a:pPr>
            <a:r>
              <a:t>RECOMMENDED NEXT STEP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0288" y="2075688"/>
            <a:ext cx="6739128" cy="1399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00" b="0">
                <a:solidFill>
                  <a:srgbClr val="69656E"/>
                </a:solidFill>
              </a:defRPr>
            </a:pPr>
            <a:r>
              <a:t>Move to a 4–6 week shadow-mode pilot at one emergency department — with no clinical authority at first.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3931920"/>
            <a:ext cx="6309360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00" b="1">
                <a:solidFill>
                  <a:srgbClr val="232028"/>
                </a:solidFill>
              </a:defRPr>
            </a:pPr>
            <a:r>
              <a:t>The pilot should validate three things: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4343400"/>
            <a:ext cx="61264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50">
                <a:solidFill>
                  <a:srgbClr val="232028"/>
                </a:solidFill>
              </a:defRPr>
            </a:pPr>
            <a:r>
              <a:t>• Are recommendations directionally useful?</a:t>
            </a:r>
          </a:p>
          <a:p>
            <a:pPr>
              <a:spcAft>
                <a:spcPts val="900"/>
              </a:spcAft>
              <a:defRPr sz="1250">
                <a:solidFill>
                  <a:srgbClr val="232028"/>
                </a:solidFill>
              </a:defRPr>
            </a:pPr>
            <a:r>
              <a:t>• Is escalation creating an acceptable over-triage burden?</a:t>
            </a:r>
          </a:p>
          <a:p>
            <a:pPr>
              <a:spcAft>
                <a:spcPts val="900"/>
              </a:spcAft>
              <a:defRPr sz="1250">
                <a:solidFill>
                  <a:srgbClr val="232028"/>
                </a:solidFill>
              </a:defRPr>
            </a:pPr>
            <a:r>
              <a:t>• Do re-assessment alerts improve queue discipline without alert fatigue?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5806440"/>
            <a:ext cx="6217920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20" b="1">
                <a:solidFill>
                  <a:srgbClr val="671F96"/>
                </a:solidFill>
              </a:defRPr>
            </a:pPr>
            <a:r>
              <a:t>If yes → EHR integration + production-grade security/audit controls, while keeping scoring transparent.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656E"/>
                </a:solidFill>
              </a:defRPr>
            </a:pPr>
            <a:r>
              <a:t>PATIENTTRIAGE.AI  •  THE 3 NON DOCS  •  ACCENTURE INNOVATION CHALLENGE 2026                       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